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2"/>
  </p:notesMasterIdLst>
  <p:handoutMasterIdLst>
    <p:handoutMasterId r:id="rId53"/>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284" r:id="rId21"/>
    <p:sldId id="269" r:id="rId22"/>
    <p:sldId id="304" r:id="rId23"/>
    <p:sldId id="305" r:id="rId24"/>
    <p:sldId id="307" r:id="rId25"/>
    <p:sldId id="306" r:id="rId26"/>
    <p:sldId id="308" r:id="rId27"/>
    <p:sldId id="270" r:id="rId28"/>
    <p:sldId id="309" r:id="rId29"/>
    <p:sldId id="310" r:id="rId30"/>
    <p:sldId id="311" r:id="rId31"/>
    <p:sldId id="312" r:id="rId32"/>
    <p:sldId id="314" r:id="rId33"/>
    <p:sldId id="313" r:id="rId34"/>
    <p:sldId id="315" r:id="rId35"/>
    <p:sldId id="316" r:id="rId36"/>
    <p:sldId id="317" r:id="rId37"/>
    <p:sldId id="294" r:id="rId38"/>
    <p:sldId id="296" r:id="rId39"/>
    <p:sldId id="318" r:id="rId40"/>
    <p:sldId id="319" r:id="rId41"/>
    <p:sldId id="321" r:id="rId42"/>
    <p:sldId id="322" r:id="rId43"/>
    <p:sldId id="323" r:id="rId44"/>
    <p:sldId id="324" r:id="rId45"/>
    <p:sldId id="288" r:id="rId46"/>
    <p:sldId id="289" r:id="rId47"/>
    <p:sldId id="320" r:id="rId48"/>
    <p:sldId id="274" r:id="rId49"/>
    <p:sldId id="275" r:id="rId50"/>
    <p:sldId id="329" r:id="rId5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varScale="1">
        <p:scale>
          <a:sx n="63" d="100"/>
          <a:sy n="63" d="100"/>
        </p:scale>
        <p:origin x="97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11/11/2025</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11/11/2025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B.H. Wunsch</a:t>
            </a:r>
          </a:p>
          <a:p>
            <a:r>
              <a:rPr lang="en-US" dirty="0">
                <a:solidFill>
                  <a:schemeClr val="bg2"/>
                </a:solidFill>
                <a:latin typeface="Abadi" panose="020B0604020104020204" pitchFamily="34" charset="0"/>
                <a:ea typeface="SF Pro" pitchFamily="2" charset="0"/>
                <a:cs typeface="SF Pro" pitchFamily="2" charset="0"/>
              </a:rPr>
              <a:t>2025.11.11</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2684972"/>
            <a:ext cx="4017889" cy="1039909"/>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Summary of methodologies</a:t>
            </a:r>
          </a:p>
          <a:p>
            <a:pPr>
              <a:lnSpc>
                <a:spcPct val="100000"/>
              </a:lnSpc>
              <a:spcBef>
                <a:spcPts val="1400"/>
              </a:spcBef>
            </a:pPr>
            <a:r>
              <a:rPr lang="en-US" sz="2200" dirty="0">
                <a:solidFill>
                  <a:schemeClr val="accent3">
                    <a:lumMod val="25000"/>
                  </a:schemeClr>
                </a:solidFill>
                <a:latin typeface="Abadi" panose="020B0604020104020204" pitchFamily="34" charset="0"/>
              </a:rPr>
              <a:t>Summary of all results</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349097" y="1530576"/>
            <a:ext cx="3786023" cy="41691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Bef>
                <a:spcPts val="1400"/>
              </a:spcBef>
              <a:buNone/>
            </a:pPr>
            <a:r>
              <a:rPr lang="en-US" sz="2200" dirty="0">
                <a:solidFill>
                  <a:schemeClr val="accent3">
                    <a:lumMod val="25000"/>
                  </a:schemeClr>
                </a:solidFill>
                <a:latin typeface="IBM Plex Sans Cond Light" panose="020B0406050203000203" pitchFamily="34" charset="0"/>
              </a:rPr>
              <a:t>Project background and context</a:t>
            </a:r>
          </a:p>
          <a:p>
            <a:pPr marL="0" indent="0">
              <a:spcBef>
                <a:spcPts val="1400"/>
              </a:spcBef>
              <a:buNone/>
            </a:pPr>
            <a:endParaRPr lang="en-US" sz="2200" dirty="0">
              <a:solidFill>
                <a:schemeClr val="accent3">
                  <a:lumMod val="25000"/>
                </a:schemeClr>
              </a:solidFill>
              <a:latin typeface="IBM Plex Sans Cond Light" panose="020B0406050203000203" pitchFamily="34" charset="0"/>
            </a:endParaRPr>
          </a:p>
          <a:p>
            <a:pPr marL="0" indent="0">
              <a:spcBef>
                <a:spcPts val="1400"/>
              </a:spcBef>
              <a:buNone/>
            </a:pPr>
            <a:endParaRPr lang="en-US" sz="2200" dirty="0">
              <a:solidFill>
                <a:schemeClr val="accent3">
                  <a:lumMod val="25000"/>
                </a:schemeClr>
              </a:solidFill>
              <a:latin typeface="IBM Plex Sans Cond Light" panose="020B0406050203000203" pitchFamily="34" charset="0"/>
            </a:endParaRPr>
          </a:p>
          <a:p>
            <a:pPr marL="0" indent="0">
              <a:spcBef>
                <a:spcPts val="1400"/>
              </a:spcBef>
              <a:buNone/>
            </a:pPr>
            <a:endParaRPr lang="en-US" sz="2200" dirty="0">
              <a:solidFill>
                <a:schemeClr val="accent3">
                  <a:lumMod val="25000"/>
                </a:schemeClr>
              </a:solidFill>
              <a:latin typeface="IBM Plex Sans Cond Light" panose="020B0406050203000203" pitchFamily="34" charset="0"/>
            </a:endParaRPr>
          </a:p>
          <a:p>
            <a:pPr marL="0" indent="0">
              <a:spcBef>
                <a:spcPts val="1400"/>
              </a:spcBef>
              <a:buNone/>
            </a:pPr>
            <a:r>
              <a:rPr lang="en-US" sz="2200" dirty="0">
                <a:solidFill>
                  <a:schemeClr val="accent3">
                    <a:lumMod val="25000"/>
                  </a:schemeClr>
                </a:solidFill>
                <a:latin typeface="IBM Plex Sans Cond Light" panose="020B0406050203000203" pitchFamily="34" charset="0"/>
              </a:rPr>
              <a:t>Problems you want to find answers</a:t>
            </a:r>
          </a:p>
        </p:txBody>
      </p:sp>
      <p:cxnSp>
        <p:nvCxnSpPr>
          <p:cNvPr id="3" name="Straight Connector 2">
            <a:extLst>
              <a:ext uri="{FF2B5EF4-FFF2-40B4-BE49-F238E27FC236}">
                <a16:creationId xmlns:a16="http://schemas.microsoft.com/office/drawing/2014/main" id="{FD91FB1A-484B-1B1B-CB34-EA347AFAAFC9}"/>
              </a:ext>
            </a:extLst>
          </p:cNvPr>
          <p:cNvCxnSpPr/>
          <p:nvPr/>
        </p:nvCxnSpPr>
        <p:spPr>
          <a:xfrm>
            <a:off x="4003040" y="1452880"/>
            <a:ext cx="0" cy="510032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5D3D09-0E61-F12F-97AF-6EE1141CDC1A}"/>
              </a:ext>
            </a:extLst>
          </p:cNvPr>
          <p:cNvSpPr txBox="1"/>
          <p:nvPr/>
        </p:nvSpPr>
        <p:spPr>
          <a:xfrm>
            <a:off x="4135120" y="1452880"/>
            <a:ext cx="7101838" cy="4801314"/>
          </a:xfrm>
          <a:prstGeom prst="rect">
            <a:avLst/>
          </a:prstGeom>
          <a:noFill/>
        </p:spPr>
        <p:txBody>
          <a:bodyPr wrap="square" rtlCol="0">
            <a:spAutoFit/>
          </a:bodyPr>
          <a:lstStyle/>
          <a:p>
            <a:r>
              <a:rPr lang="en-US" dirty="0">
                <a:latin typeface="IBM Plex Sans Cond Light" panose="020B0406050203000203" pitchFamily="34" charset="0"/>
              </a:rPr>
              <a:t>SpaceX is the leading, private space launch enterprise, with 100’s of successful launches, including payload delivery to the International Space Station and deployment of multiple Starlink satellite arrays.  As such, SpaceX is the key player in private space deployment, and any successful entrant must be able to deliver a superior deployment against SpaceX’s legacy</a:t>
            </a:r>
          </a:p>
          <a:p>
            <a:endParaRPr lang="en-US" dirty="0">
              <a:latin typeface="IBM Plex Sans Cond Light" panose="020B0406050203000203" pitchFamily="34" charset="0"/>
            </a:endParaRPr>
          </a:p>
          <a:p>
            <a:r>
              <a:rPr lang="en-US" dirty="0">
                <a:latin typeface="IBM Plex Sans Cond Light" panose="020B0406050203000203" pitchFamily="34" charset="0"/>
              </a:rPr>
              <a:t>SpaceX’s profitability rests on its modular design, and ability to recover key assets, particularly the first stage launch core, allowing a single core to make multiple launches and bring down the total cost.  Success of landing the first stage core is vital to recovery.  As a strategy to compete against SpaceX, if it can be understood when a first stage core will fail to recover, this provides a niche in which an alternative, lower cost launch operator could bid for the contract.</a:t>
            </a:r>
          </a:p>
          <a:p>
            <a:endParaRPr lang="en-US" dirty="0">
              <a:latin typeface="IBM Plex Sans Cond Light" panose="020B0406050203000203" pitchFamily="34" charset="0"/>
            </a:endParaRPr>
          </a:p>
          <a:p>
            <a:r>
              <a:rPr lang="en-US" dirty="0">
                <a:latin typeface="IBM Plex Sans Cond Light" panose="020B0406050203000203" pitchFamily="34" charset="0"/>
              </a:rPr>
              <a:t>There, we wish to understand SpaceX’s first stage core recovery based on launch conditions to predict when recovery will succeed or fail.</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3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IBM Plex Sans Cond Light" panose="020B0406050203000203" pitchFamily="34" charset="0"/>
              </a:rPr>
              <a:t>Executive Summary</a:t>
            </a:r>
          </a:p>
          <a:p>
            <a:pPr>
              <a:lnSpc>
                <a:spcPct val="120000"/>
              </a:lnSpc>
              <a:spcBef>
                <a:spcPts val="1400"/>
              </a:spcBef>
            </a:pPr>
            <a:r>
              <a:rPr lang="en-US" sz="8800" dirty="0">
                <a:solidFill>
                  <a:schemeClr val="accent3">
                    <a:lumMod val="25000"/>
                  </a:schemeClr>
                </a:solidFill>
                <a:latin typeface="IBM Plex Sans Cond Light" panose="020B0406050203000203" pitchFamily="34" charset="0"/>
              </a:rPr>
              <a:t>Data collection methodology:</a:t>
            </a:r>
          </a:p>
          <a:p>
            <a:pPr>
              <a:lnSpc>
                <a:spcPct val="120000"/>
              </a:lnSpc>
              <a:spcBef>
                <a:spcPts val="1400"/>
              </a:spcBef>
            </a:pPr>
            <a:r>
              <a:rPr lang="en-US" sz="8800" dirty="0">
                <a:solidFill>
                  <a:schemeClr val="accent3">
                    <a:lumMod val="25000"/>
                  </a:schemeClr>
                </a:solidFill>
                <a:latin typeface="IBM Plex Sans Cond Light" panose="020B0406050203000203" pitchFamily="34" charset="0"/>
              </a:rPr>
              <a:t>Perform data wrangling</a:t>
            </a:r>
          </a:p>
          <a:p>
            <a:pPr>
              <a:lnSpc>
                <a:spcPct val="120000"/>
              </a:lnSpc>
              <a:spcBef>
                <a:spcPts val="1400"/>
              </a:spcBef>
            </a:pPr>
            <a:r>
              <a:rPr lang="en-US" sz="8800" dirty="0">
                <a:solidFill>
                  <a:schemeClr val="accent3">
                    <a:lumMod val="25000"/>
                  </a:schemeClr>
                </a:solidFill>
                <a:latin typeface="IBM Plex Sans Cond Light" panose="020B0406050203000203" pitchFamily="34" charset="0"/>
              </a:rPr>
              <a:t>Perform exploratory data analysis (EDA) using visualization and SQL</a:t>
            </a:r>
          </a:p>
          <a:p>
            <a:pPr>
              <a:lnSpc>
                <a:spcPct val="120000"/>
              </a:lnSpc>
              <a:spcBef>
                <a:spcPts val="1400"/>
              </a:spcBef>
            </a:pPr>
            <a:r>
              <a:rPr lang="en-US" sz="8800" dirty="0">
                <a:solidFill>
                  <a:schemeClr val="accent3">
                    <a:lumMod val="25000"/>
                  </a:schemeClr>
                </a:solidFill>
                <a:latin typeface="IBM Plex Sans Cond Light" panose="020B0406050203000203" pitchFamily="34" charset="0"/>
              </a:rPr>
              <a:t>Perform interactive visual analytics using Folium and </a:t>
            </a:r>
            <a:r>
              <a:rPr lang="en-US" sz="8800" dirty="0" err="1">
                <a:solidFill>
                  <a:schemeClr val="accent3">
                    <a:lumMod val="25000"/>
                  </a:schemeClr>
                </a:solidFill>
                <a:latin typeface="IBM Plex Sans Cond Light" panose="020B0406050203000203" pitchFamily="34" charset="0"/>
              </a:rPr>
              <a:t>Plotly</a:t>
            </a:r>
            <a:r>
              <a:rPr lang="en-US" sz="8800" dirty="0">
                <a:solidFill>
                  <a:schemeClr val="accent3">
                    <a:lumMod val="25000"/>
                  </a:schemeClr>
                </a:solidFill>
                <a:latin typeface="IBM Plex Sans Cond Light" panose="020B0406050203000203" pitchFamily="34" charset="0"/>
              </a:rPr>
              <a:t> Dash</a:t>
            </a:r>
          </a:p>
          <a:p>
            <a:pPr>
              <a:lnSpc>
                <a:spcPct val="120000"/>
              </a:lnSpc>
              <a:spcBef>
                <a:spcPts val="1400"/>
              </a:spcBef>
            </a:pPr>
            <a:r>
              <a:rPr lang="en-US" sz="8800" dirty="0">
                <a:solidFill>
                  <a:schemeClr val="accent3">
                    <a:lumMod val="25000"/>
                  </a:schemeClr>
                </a:solidFill>
                <a:latin typeface="IBM Plex Sans Cond Light" panose="020B0406050203000203" pitchFamily="34" charset="0"/>
              </a:rPr>
              <a:t>Perform predictive analysis using classification models</a:t>
            </a:r>
          </a:p>
          <a:p>
            <a:pPr>
              <a:lnSpc>
                <a:spcPct val="100000"/>
              </a:lnSpc>
              <a:spcBef>
                <a:spcPts val="1400"/>
              </a:spcBef>
            </a:pPr>
            <a:endParaRPr lang="en-US" sz="2200" dirty="0">
              <a:solidFill>
                <a:schemeClr val="accent3">
                  <a:lumMod val="25000"/>
                </a:schemeClr>
              </a:solidFill>
              <a:latin typeface="IBM Plex Sans Cond Light" panose="020B0406050203000203" pitchFamily="34" charset="0"/>
            </a:endParaRPr>
          </a:p>
          <a:p>
            <a:pPr>
              <a:lnSpc>
                <a:spcPct val="100000"/>
              </a:lnSpc>
              <a:spcBef>
                <a:spcPts val="1400"/>
              </a:spcBef>
            </a:pPr>
            <a:endParaRPr lang="en-US" sz="2200" dirty="0">
              <a:solidFill>
                <a:schemeClr val="accent3">
                  <a:lumMod val="25000"/>
                </a:schemeClr>
              </a:solidFill>
              <a:latin typeface="IBM Plex Sans Cond Light" panose="020B0406050203000203" pitchFamily="34" charset="0"/>
            </a:endParaRPr>
          </a:p>
          <a:p>
            <a:pPr>
              <a:lnSpc>
                <a:spcPct val="100000"/>
              </a:lnSpc>
              <a:spcBef>
                <a:spcPts val="1400"/>
              </a:spcBef>
            </a:pPr>
            <a:endParaRPr lang="en-US" sz="2200" dirty="0">
              <a:solidFill>
                <a:schemeClr val="accent3">
                  <a:lumMod val="25000"/>
                </a:schemeClr>
              </a:solidFill>
              <a:latin typeface="IBM Plex Sans Cond Light" panose="020B0406050203000203" pitchFamily="34" charset="0"/>
            </a:endParaRPr>
          </a:p>
          <a:p>
            <a:pPr>
              <a:lnSpc>
                <a:spcPct val="100000"/>
              </a:lnSpc>
              <a:spcBef>
                <a:spcPts val="1400"/>
              </a:spcBef>
            </a:pPr>
            <a:endParaRPr lang="en-US" sz="2200" dirty="0">
              <a:solidFill>
                <a:schemeClr val="accent3">
                  <a:lumMod val="25000"/>
                </a:schemeClr>
              </a:solidFill>
              <a:latin typeface="IBM Plex Sans Cond Light" panose="020B0406050203000203" pitchFamily="34" charset="0"/>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marL="0" indent="0">
              <a:buNone/>
            </a:pPr>
            <a:r>
              <a:rPr lang="en-US" sz="1800" dirty="0">
                <a:latin typeface="IBM Plex Sans Cond Light" panose="020B0406050203000203" pitchFamily="34" charset="0"/>
              </a:rPr>
              <a:t>Data was collected from the publicly available SpaceX API (version 4): </a:t>
            </a:r>
            <a:r>
              <a:rPr lang="en-US" sz="1800" dirty="0"/>
              <a:t>https://api.spacexdata.com</a:t>
            </a:r>
          </a:p>
          <a:p>
            <a:r>
              <a:rPr lang="en-US" sz="1800" dirty="0">
                <a:latin typeface="IBM Plex Sans Cond Light" panose="020B0406050203000203" pitchFamily="34" charset="0"/>
              </a:rPr>
              <a:t>Used python requests module</a:t>
            </a:r>
          </a:p>
          <a:p>
            <a:pPr marL="0" indent="0">
              <a:buNone/>
            </a:pPr>
            <a:endParaRPr lang="en-US" sz="1800" dirty="0">
              <a:latin typeface="IBM Plex Sans Cond Light" panose="020B0406050203000203" pitchFamily="34" charset="0"/>
            </a:endParaRPr>
          </a:p>
          <a:p>
            <a:pPr marL="0" indent="0">
              <a:buNone/>
            </a:pPr>
            <a:r>
              <a:rPr lang="en-US" sz="1800" dirty="0">
                <a:latin typeface="IBM Plex Sans Cond Light" panose="020B0406050203000203" pitchFamily="34" charset="0"/>
              </a:rPr>
              <a:t>As well as obtained via the SpaceX Falcon 9 Heavy Launch Wikipedia page </a:t>
            </a:r>
            <a:r>
              <a:rPr lang="en-US" sz="1800" dirty="0"/>
              <a:t>https://en.wikipedia.org/wiki/List_of_Falcon_9_and_Falcon_Heavy_launches</a:t>
            </a:r>
          </a:p>
          <a:p>
            <a:r>
              <a:rPr lang="en-US" sz="1800" dirty="0">
                <a:latin typeface="IBM Plex Sans Cond Light" panose="020B0406050203000203" pitchFamily="34" charset="0"/>
              </a:rPr>
              <a:t>Used python </a:t>
            </a:r>
            <a:r>
              <a:rPr lang="en-US" sz="1800" dirty="0" err="1">
                <a:latin typeface="IBM Plex Sans Cond Light" panose="020B0406050203000203" pitchFamily="34" charset="0"/>
              </a:rPr>
              <a:t>beautifulsoup</a:t>
            </a:r>
            <a:r>
              <a:rPr lang="en-US" sz="1800" dirty="0">
                <a:latin typeface="IBM Plex Sans Cond Light" panose="020B0406050203000203" pitchFamily="34" charset="0"/>
              </a:rPr>
              <a:t> module with custom script to parse launch data table</a:t>
            </a:r>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r>
              <a:rPr lang="en-US" sz="2200">
                <a:solidFill>
                  <a:srgbClr val="1C7DDB"/>
                </a:solidFill>
                <a:latin typeface="Abadi"/>
              </a:rPr>
              <a:t>Place your flowchart of SpaceX API calls </a:t>
            </a:r>
            <a:r>
              <a:rPr lang="en-US" sz="2200" dirty="0">
                <a:solidFill>
                  <a:srgbClr val="1C7DDB"/>
                </a:solidFill>
                <a:latin typeface="Abadi"/>
              </a:rPr>
              <a:t>here</a:t>
            </a:r>
            <a:endParaRPr lang="en-US">
              <a:cs typeface="Calibri"/>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IBM Plex Sans Cond Light" panose="020B0406050203000203" pitchFamily="34" charset="0"/>
              </a:rPr>
              <a:t>Present your data collection with SpaceX REST calls using key phrases and flowcharts</a:t>
            </a:r>
          </a:p>
          <a:p>
            <a:pPr>
              <a:lnSpc>
                <a:spcPct val="100000"/>
              </a:lnSpc>
              <a:spcBef>
                <a:spcPts val="1400"/>
              </a:spcBef>
            </a:pPr>
            <a:endParaRPr lang="en-US" sz="2200" dirty="0">
              <a:solidFill>
                <a:schemeClr val="accent3">
                  <a:lumMod val="25000"/>
                </a:schemeClr>
              </a:solidFill>
              <a:latin typeface="IBM Plex Sans Cond Light" panose="020B0406050203000203" pitchFamily="34" charset="0"/>
            </a:endParaRPr>
          </a:p>
          <a:p>
            <a:pPr>
              <a:lnSpc>
                <a:spcPct val="100000"/>
              </a:lnSpc>
              <a:spcBef>
                <a:spcPts val="1400"/>
              </a:spcBef>
            </a:pPr>
            <a:r>
              <a:rPr lang="en-US" sz="2200" dirty="0">
                <a:solidFill>
                  <a:schemeClr val="accent3">
                    <a:lumMod val="25000"/>
                  </a:schemeClr>
                </a:solidFill>
                <a:latin typeface="IBM Plex Sans Cond Light" panose="020B0406050203000203" pitchFamily="34" charset="0"/>
              </a:rPr>
              <a:t>Add the GitHub URL of the completed SpaceX API calls notebook </a:t>
            </a:r>
            <a:r>
              <a:rPr lang="en-US" sz="2200" dirty="0">
                <a:solidFill>
                  <a:srgbClr val="1C7DDB"/>
                </a:solidFill>
                <a:latin typeface="IBM Plex Sans Cond Light" panose="020B0406050203000203" pitchFamily="34" charset="0"/>
              </a:rPr>
              <a:t>(must include completed code cell and outcome cell), </a:t>
            </a:r>
            <a:r>
              <a:rPr lang="en-US" sz="2200" dirty="0">
                <a:solidFill>
                  <a:schemeClr val="accent3">
                    <a:lumMod val="25000"/>
                  </a:schemeClr>
                </a:solidFill>
                <a:latin typeface="IBM Plex Sans Cond Light" panose="020B0406050203000203" pitchFamily="34" charset="0"/>
              </a:rPr>
              <a:t>as an external reference and peer-review purpose</a:t>
            </a:r>
          </a:p>
          <a:p>
            <a:endParaRPr lang="en-US" dirty="0">
              <a:latin typeface="IBM Plex Sans Cond Light" panose="020B0406050203000203" pitchFamily="34" charset="0"/>
            </a:endParaRPr>
          </a:p>
          <a:p>
            <a:endParaRPr lang="en-US" dirty="0">
              <a:latin typeface="IBM Plex Sans Cond Light" panose="020B0406050203000203" pitchFamily="34" charset="0"/>
            </a:endParaRPr>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792288"/>
            <a:ext cx="3932238" cy="3811587"/>
          </a:xfrm>
          <a:prstGeom prst="rect">
            <a:avLst/>
          </a:prstGeom>
        </p:spPr>
        <p:txBody>
          <a:bodyPr lIns="91440" tIns="45720" rIns="91440" bIns="45720" anchor="t">
            <a:noAutofit/>
          </a:bodyPr>
          <a:lstStyle/>
          <a:p>
            <a:pPr>
              <a:lnSpc>
                <a:spcPct val="100000"/>
              </a:lnSpc>
              <a:spcBef>
                <a:spcPts val="1400"/>
              </a:spcBef>
            </a:pPr>
            <a:r>
              <a:rPr lang="en-US" sz="2200">
                <a:solidFill>
                  <a:schemeClr val="accent3">
                    <a:lumMod val="25000"/>
                  </a:schemeClr>
                </a:solidFill>
                <a:latin typeface="Abadi"/>
              </a:rPr>
              <a:t>Present your web scraping process using key phrases and flowcharts</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Add the GitHub URL of the completed web scraping notebook, as an external reference and peer-review purpose</a:t>
            </a: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 name="Content Placeholder 4">
            <a:extLst>
              <a:ext uri="{FF2B5EF4-FFF2-40B4-BE49-F238E27FC236}">
                <a16:creationId xmlns:a16="http://schemas.microsoft.com/office/drawing/2014/main" id="{8B78C759-C687-440F-8CAE-D3071F1AB630}"/>
              </a:ext>
            </a:extLst>
          </p:cNvPr>
          <p:cNvSpPr txBox="1">
            <a:spLocks/>
          </p:cNvSpPr>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None/>
            </a:pPr>
            <a:r>
              <a:rPr lang="en-US" sz="2200">
                <a:solidFill>
                  <a:srgbClr val="1C7DDB"/>
                </a:solidFill>
                <a:latin typeface="Abadi"/>
              </a:rPr>
              <a:t>Place your flowchart of web scraping here</a:t>
            </a:r>
            <a:endParaRPr lang="en-US">
              <a:cs typeface="Calibri"/>
            </a:endParaRPr>
          </a:p>
        </p:txBody>
      </p: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8975652" cy="4351338"/>
          </a:xfrm>
          <a:prstGeom prst="rect">
            <a:avLst/>
          </a:prstGeom>
        </p:spPr>
        <p:txBody>
          <a:bodyPr/>
          <a:lstStyle/>
          <a:p>
            <a:r>
              <a:rPr lang="en-US" sz="2200">
                <a:solidFill>
                  <a:schemeClr val="accent3">
                    <a:lumMod val="25000"/>
                  </a:schemeClr>
                </a:solidFill>
                <a:latin typeface="Abadi" panose="020B0604020104020204" pitchFamily="34" charset="0"/>
              </a:rPr>
              <a:t>Describe how data were processed</a:t>
            </a:r>
          </a:p>
          <a:p>
            <a:r>
              <a:rPr lang="en-US" sz="2200">
                <a:solidFill>
                  <a:schemeClr val="accent3">
                    <a:lumMod val="25000"/>
                  </a:schemeClr>
                </a:solidFill>
                <a:latin typeface="Abadi" panose="020B0604020104020204" pitchFamily="34" charset="0"/>
              </a:rPr>
              <a:t>You need to present your data wrangling process using key phrases and flowcharts</a:t>
            </a:r>
          </a:p>
          <a:p>
            <a:r>
              <a:rPr lang="en-US" sz="2200">
                <a:solidFill>
                  <a:schemeClr val="accent3">
                    <a:lumMod val="25000"/>
                  </a:schemeClr>
                </a:solidFill>
                <a:latin typeface="Abadi" panose="020B0604020104020204" pitchFamily="34" charset="0"/>
              </a:rPr>
              <a:t>Add the GitHub URL of your completed data wrangling related notebooks, as an external reference and peer-review purpose</a:t>
            </a:r>
          </a:p>
          <a:p>
            <a:endParaRPr lang="en-US"/>
          </a:p>
          <a:p>
            <a:endParaRPr lang="en-US"/>
          </a:p>
          <a:p>
            <a:endParaRPr lang="en-US"/>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a:solidFill>
                  <a:schemeClr val="accent3">
                    <a:lumMod val="25000"/>
                  </a:schemeClr>
                </a:solidFill>
                <a:latin typeface="Abadi"/>
              </a:rPr>
              <a:t>Summarize what charts were plotted and why you used those charts</a:t>
            </a:r>
          </a:p>
          <a:p>
            <a:pPr>
              <a:lnSpc>
                <a:spcPct val="100000"/>
              </a:lnSpc>
              <a:spcBef>
                <a:spcPts val="1400"/>
              </a:spcBef>
            </a:pPr>
            <a:r>
              <a:rPr lang="en-US" sz="2200">
                <a:solidFill>
                  <a:schemeClr val="accent3">
                    <a:lumMod val="25000"/>
                  </a:schemeClr>
                </a:solidFill>
                <a:latin typeface="Abadi" panose="020B0604020104020204" pitchFamily="34" charset="0"/>
              </a:rPr>
              <a:t>Add the GitHub URL of your completed EDA with data visualization notebook, as an external reference and peer-review purpose</a:t>
            </a:r>
          </a:p>
          <a:p>
            <a:endParaRPr lang="en-US"/>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9745589" cy="4351338"/>
          </a:xfrm>
          <a:prstGeom prst="rect">
            <a:avLst/>
          </a:prstGeom>
        </p:spPr>
        <p:txBody>
          <a:bodyPr lIns="91440" tIns="45720" rIns="91440" bIns="45720" anchor="t"/>
          <a:lstStyle/>
          <a:p>
            <a:pPr>
              <a:lnSpc>
                <a:spcPct val="100000"/>
              </a:lnSpc>
              <a:spcBef>
                <a:spcPts val="1400"/>
              </a:spcBef>
            </a:pPr>
            <a:r>
              <a:rPr lang="en-US" sz="2200">
                <a:solidFill>
                  <a:schemeClr val="accent3">
                    <a:lumMod val="25000"/>
                  </a:schemeClr>
                </a:solidFill>
                <a:latin typeface="Abadi"/>
              </a:rPr>
              <a:t>Using bullet point format, summarize the SQL queries you performed</a:t>
            </a: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Add the GitHub URL of your completed EDA with SQL notebook, as an external reference and peer-review purpose</a:t>
            </a:r>
          </a:p>
          <a:p>
            <a:endParaRPr lang="en-US"/>
          </a:p>
          <a:p>
            <a:endParaRPr lang="en-US"/>
          </a:p>
          <a:p>
            <a:endParaRPr lang="en-US"/>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Summarize what map objects such as markers, circles, lines, etc. you created and added to a folium map</a:t>
            </a:r>
          </a:p>
          <a:p>
            <a:pPr>
              <a:lnSpc>
                <a:spcPct val="100000"/>
              </a:lnSpc>
              <a:spcBef>
                <a:spcPts val="1400"/>
              </a:spcBef>
            </a:pPr>
            <a:r>
              <a:rPr lang="en-US" sz="2200">
                <a:solidFill>
                  <a:schemeClr val="accent3">
                    <a:lumMod val="25000"/>
                  </a:schemeClr>
                </a:solidFill>
                <a:latin typeface="Abadi" panose="020B0604020104020204" pitchFamily="34" charset="0"/>
              </a:rPr>
              <a:t>Explain why you added those objects</a:t>
            </a:r>
          </a:p>
          <a:p>
            <a:pPr>
              <a:lnSpc>
                <a:spcPct val="100000"/>
              </a:lnSpc>
              <a:spcBef>
                <a:spcPts val="1400"/>
              </a:spcBef>
            </a:pPr>
            <a:r>
              <a:rPr lang="en-US" sz="2200">
                <a:solidFill>
                  <a:schemeClr val="accent3">
                    <a:lumMod val="25000"/>
                  </a:schemeClr>
                </a:solidFill>
                <a:latin typeface="Abadi" panose="020B0604020104020204" pitchFamily="34" charset="0"/>
              </a:rPr>
              <a:t>Add the GitHub URL of your completed interactive map with Folium map, as an external reference and peer-review purpose</a:t>
            </a:r>
          </a:p>
          <a:p>
            <a:endParaRPr lang="en-US"/>
          </a:p>
          <a:p>
            <a:endParaRPr lang="en-US"/>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Summarize what plots/graphs and interactions you have added to a dashboard</a:t>
            </a:r>
          </a:p>
          <a:p>
            <a:pPr>
              <a:lnSpc>
                <a:spcPct val="100000"/>
              </a:lnSpc>
              <a:spcBef>
                <a:spcPts val="1400"/>
              </a:spcBef>
            </a:pPr>
            <a:r>
              <a:rPr lang="en-US" sz="2200">
                <a:solidFill>
                  <a:schemeClr val="accent3">
                    <a:lumMod val="25000"/>
                  </a:schemeClr>
                </a:solidFill>
                <a:latin typeface="Abadi" panose="020B0604020104020204" pitchFamily="34" charset="0"/>
              </a:rPr>
              <a:t>Explain why you added those plots and interactions</a:t>
            </a:r>
          </a:p>
          <a:p>
            <a:pPr>
              <a:lnSpc>
                <a:spcPct val="100000"/>
              </a:lnSpc>
              <a:spcBef>
                <a:spcPts val="1400"/>
              </a:spcBef>
            </a:pPr>
            <a:r>
              <a:rPr lang="en-US" sz="2200">
                <a:solidFill>
                  <a:schemeClr val="accent3">
                    <a:lumMod val="25000"/>
                  </a:schemeClr>
                </a:solidFill>
                <a:latin typeface="Abadi" panose="020B0604020104020204" pitchFamily="34" charset="0"/>
              </a:rPr>
              <a:t>Add the GitHub URL of your completed </a:t>
            </a:r>
            <a:r>
              <a:rPr lang="en-US" sz="2200" err="1">
                <a:solidFill>
                  <a:schemeClr val="accent3">
                    <a:lumMod val="25000"/>
                  </a:schemeClr>
                </a:solidFill>
                <a:latin typeface="Abadi" panose="020B0604020104020204" pitchFamily="34" charset="0"/>
              </a:rPr>
              <a:t>Plotly</a:t>
            </a:r>
            <a:r>
              <a:rPr lang="en-US" sz="2200">
                <a:solidFill>
                  <a:schemeClr val="accent3">
                    <a:lumMod val="25000"/>
                  </a:schemeClr>
                </a:solidFill>
                <a:latin typeface="Abadi" panose="020B0604020104020204" pitchFamily="34" charset="0"/>
              </a:rPr>
              <a:t> Dash lab, as an external reference and peer-review purpose</a:t>
            </a:r>
          </a:p>
          <a:p>
            <a:endParaRPr lang="en-US"/>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Summarize how you built, evaluated, improved, and found the best performing classification model</a:t>
            </a:r>
          </a:p>
          <a:p>
            <a:pPr>
              <a:lnSpc>
                <a:spcPct val="100000"/>
              </a:lnSpc>
              <a:spcBef>
                <a:spcPts val="1400"/>
              </a:spcBef>
            </a:pPr>
            <a:r>
              <a:rPr lang="en-US" sz="2200">
                <a:solidFill>
                  <a:schemeClr val="accent3">
                    <a:lumMod val="25000"/>
                  </a:schemeClr>
                </a:solidFill>
                <a:latin typeface="Abadi" panose="020B0604020104020204" pitchFamily="34" charset="0"/>
              </a:rPr>
              <a:t>You need present your model development process using key phrases and flowchart</a:t>
            </a:r>
          </a:p>
          <a:p>
            <a:pPr>
              <a:lnSpc>
                <a:spcPct val="100000"/>
              </a:lnSpc>
              <a:spcBef>
                <a:spcPts val="1400"/>
              </a:spcBef>
            </a:pPr>
            <a:r>
              <a:rPr lang="en-US" sz="2200">
                <a:solidFill>
                  <a:schemeClr val="accent3">
                    <a:lumMod val="25000"/>
                  </a:schemeClr>
                </a:solidFill>
                <a:latin typeface="Abadi" panose="020B0604020104020204" pitchFamily="34" charset="0"/>
              </a:rPr>
              <a:t>Add the GitHub URL of your completed predictive analysis lab, as an external reference and peer-review purpose</a:t>
            </a:r>
          </a:p>
          <a:p>
            <a:endParaRPr lang="en-US"/>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lvl="1"/>
            <a:endParaRPr lang="en-US" sz="1800"/>
          </a:p>
          <a:p>
            <a:pPr marL="457200" lvl="1" indent="0">
              <a:buNone/>
            </a:pPr>
            <a:endParaRPr lang="en-US" sz="180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3" y="2057400"/>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scatter plot of Flight Number vs. Launch Site</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scatter plot of Payload vs. Launch Site</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82114"/>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bar chart for the success rate of each orbit type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scatter point of Flight number vs. Orbit type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57400"/>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scatter point of payload vs. orbit type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Show a </a:t>
            </a:r>
            <a:r>
              <a:rPr lang="en-US" sz="2200">
                <a:solidFill>
                  <a:schemeClr val="accent3">
                    <a:lumMod val="25000"/>
                  </a:schemeClr>
                </a:solidFill>
                <a:latin typeface="Abadi" panose="020B0604020104020204" pitchFamily="34" charset="0"/>
              </a:rPr>
              <a:t>line chart of yearly average success rate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spTree>
    <p:extLst>
      <p:ext uri="{BB962C8B-B14F-4D97-AF65-F5344CB8AC3E}">
        <p14:creationId xmlns:p14="http://schemas.microsoft.com/office/powerpoint/2010/main" val="706594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the names of the unique launch sites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Tree>
    <p:extLst>
      <p:ext uri="{BB962C8B-B14F-4D97-AF65-F5344CB8AC3E}">
        <p14:creationId xmlns:p14="http://schemas.microsoft.com/office/powerpoint/2010/main" val="2727850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5 records where launch sites begin with `CCA`</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payload carried by boosters from NASA</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average payload mass carried by booster version F9 v1.1</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Find the dates of the first successful landing outcome on ground pad</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a:rPr>
              <a:t>List the names of boosters which have successfully landed on drone ship and had payload mass greater than 4000 but less than 6000</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number of successful and failure mission outcomes</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Tree>
    <p:extLst>
      <p:ext uri="{BB962C8B-B14F-4D97-AF65-F5344CB8AC3E}">
        <p14:creationId xmlns:p14="http://schemas.microsoft.com/office/powerpoint/2010/main" val="1756972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List the names of the booster which have carried the maximum payload mass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failed </a:t>
            </a:r>
            <a:r>
              <a:rPr lang="en-US" sz="2200" dirty="0" err="1">
                <a:solidFill>
                  <a:schemeClr val="accent3">
                    <a:lumMod val="25000"/>
                  </a:schemeClr>
                </a:solidFill>
                <a:latin typeface="Abadi"/>
              </a:rPr>
              <a:t>landing_outcomes</a:t>
            </a:r>
            <a:r>
              <a:rPr lang="en-US" sz="2200" dirty="0">
                <a:solidFill>
                  <a:schemeClr val="accent3">
                    <a:lumMod val="25000"/>
                  </a:schemeClr>
                </a:solidFill>
                <a:latin typeface="Abadi"/>
              </a:rPr>
              <a:t> in drone ship, their booster versions, and launch site names for in year 2015</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Present your query result with a short explanation here</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Tree>
    <p:extLst>
      <p:ext uri="{BB962C8B-B14F-4D97-AF65-F5344CB8AC3E}">
        <p14:creationId xmlns:p14="http://schemas.microsoft.com/office/powerpoint/2010/main" val="397516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1&gt;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make a proper screenshot to include all launch sites’ location markers on a global map</a:t>
            </a:r>
            <a:endParaRPr lang="en-US" dirty="0">
              <a:solidFill>
                <a:schemeClr val="accent3">
                  <a:lumMod val="25000"/>
                </a:schemeClr>
              </a:solidFill>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p>
          <a:p>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1&gt;</a:t>
            </a:r>
          </a:p>
        </p:txBody>
      </p:sp>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ea typeface="+mn-lt"/>
                <a:cs typeface="+mn-lt"/>
              </a:rPr>
              <a:t>Explore the folium</a:t>
            </a:r>
            <a:r>
              <a:rPr lang="en-US" sz="2200" dirty="0">
                <a:solidFill>
                  <a:schemeClr val="accent3">
                    <a:lumMod val="25000"/>
                  </a:schemeClr>
                </a:solidFill>
                <a:latin typeface="Abadi"/>
              </a:rPr>
              <a:t> map and make a proper screenshot to show the color-labeled launch outcomes on the map</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spcBef>
                <a:spcPts val="1400"/>
              </a:spcBef>
            </a:pPr>
            <a:endParaRPr lang="en-US">
              <a:solidFill>
                <a:schemeClr val="accent3">
                  <a:lumMod val="25000"/>
                </a:schemeClr>
              </a:solidFill>
            </a:endParaRP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2&gt;</a:t>
            </a:r>
          </a:p>
        </p:txBody>
      </p:sp>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8597827" cy="4314825"/>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show the screenshot of a selected launch site to its proximities such as railway, highway, coastline, with distance calculated and displayed</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3&gt;</a:t>
            </a:r>
          </a:p>
        </p:txBody>
      </p:sp>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1&gt; title with an appropriate title</a:t>
            </a:r>
          </a:p>
          <a:p>
            <a:pPr>
              <a:lnSpc>
                <a:spcPct val="100000"/>
              </a:lnSpc>
              <a:spcBef>
                <a:spcPts val="1400"/>
              </a:spcBef>
            </a:pP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Show the screenshot of launch success count for all sites, in a </a:t>
            </a:r>
            <a:r>
              <a:rPr lang="en-US" sz="2200" dirty="0" err="1">
                <a:solidFill>
                  <a:schemeClr val="accent3">
                    <a:lumMod val="25000"/>
                  </a:schemeClr>
                </a:solidFill>
                <a:latin typeface="Abadi"/>
              </a:rPr>
              <a:t>piechart</a:t>
            </a: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1&gt;</a:t>
            </a:r>
          </a:p>
        </p:txBody>
      </p:sp>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825625"/>
            <a:ext cx="10551583"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Show the screenshot of the </a:t>
            </a:r>
            <a:r>
              <a:rPr lang="en-US" sz="2200" dirty="0" err="1">
                <a:solidFill>
                  <a:schemeClr val="accent3">
                    <a:lumMod val="25000"/>
                  </a:schemeClr>
                </a:solidFill>
                <a:latin typeface="Abadi"/>
              </a:rPr>
              <a:t>piechart</a:t>
            </a:r>
            <a:r>
              <a:rPr lang="en-US" sz="2200" dirty="0">
                <a:solidFill>
                  <a:schemeClr val="accent3">
                    <a:lumMod val="25000"/>
                  </a:schemeClr>
                </a:solidFill>
                <a:latin typeface="Abadi"/>
              </a:rPr>
              <a:t> for the launch site with highest launch success ratio</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2&gt;</a:t>
            </a:r>
          </a:p>
        </p:txBody>
      </p:sp>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825625"/>
            <a:ext cx="10414662"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Replace &lt;Dashboard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a:solidFill>
                  <a:schemeClr val="accent3">
                    <a:lumMod val="25000"/>
                  </a:schemeClr>
                </a:solidFill>
                <a:latin typeface="Abadi" panose="020B0604020104020204" pitchFamily="34" charset="0"/>
              </a:rPr>
              <a:t>Show screenshots of Payload vs. Launch Outcome scatter plot for all sites, with different payload selected in the range slider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a:solidFill>
                  <a:schemeClr val="accent3">
                    <a:lumMod val="25000"/>
                  </a:schemeClr>
                </a:solidFill>
                <a:latin typeface="Abadi"/>
              </a:rPr>
              <a:t>Explain the important elements and findings on the screenshot, such as which payload range or booster version have the largest success rate, etc.</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3&gt;</a:t>
            </a:r>
          </a:p>
        </p:txBody>
      </p:sp>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a:rPr>
              <a:t>Visualize the built model accuracy for all </a:t>
            </a:r>
            <a:r>
              <a:rPr lang="en-US" sz="2200">
                <a:solidFill>
                  <a:schemeClr val="accent3">
                    <a:lumMod val="25000"/>
                  </a:schemeClr>
                </a:solidFill>
                <a:latin typeface="Abadi"/>
              </a:rPr>
              <a:t>built classification models, in a bar chart</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Find which model has the highest classification accuracy</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9477960"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the confusion matrix of the best performing model with an explanation </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Point 1</a:t>
            </a:r>
          </a:p>
          <a:p>
            <a:pPr>
              <a:lnSpc>
                <a:spcPct val="100000"/>
              </a:lnSpc>
              <a:spcBef>
                <a:spcPts val="1400"/>
              </a:spcBef>
            </a:pPr>
            <a:r>
              <a:rPr lang="en-US" sz="2200">
                <a:solidFill>
                  <a:schemeClr val="accent3">
                    <a:lumMod val="25000"/>
                  </a:schemeClr>
                </a:solidFill>
                <a:latin typeface="Abadi" panose="020B0604020104020204" pitchFamily="34" charset="0"/>
              </a:rPr>
              <a:t>Point 2</a:t>
            </a:r>
          </a:p>
          <a:p>
            <a:pPr>
              <a:lnSpc>
                <a:spcPct val="100000"/>
              </a:lnSpc>
              <a:spcBef>
                <a:spcPts val="1400"/>
              </a:spcBef>
            </a:pPr>
            <a:r>
              <a:rPr lang="en-US" sz="2200">
                <a:solidFill>
                  <a:schemeClr val="accent3">
                    <a:lumMod val="25000"/>
                  </a:schemeClr>
                </a:solidFill>
                <a:latin typeface="Abadi" panose="020B0604020104020204" pitchFamily="34" charset="0"/>
              </a:rPr>
              <a:t>Point 3</a:t>
            </a:r>
          </a:p>
          <a:p>
            <a:pPr>
              <a:lnSpc>
                <a:spcPct val="100000"/>
              </a:lnSpc>
              <a:spcBef>
                <a:spcPts val="1400"/>
              </a:spcBef>
            </a:pPr>
            <a:r>
              <a:rPr lang="en-US" sz="2200">
                <a:solidFill>
                  <a:schemeClr val="accent3">
                    <a:lumMod val="25000"/>
                  </a:schemeClr>
                </a:solidFill>
                <a:latin typeface="Abadi" panose="020B0604020104020204" pitchFamily="34" charset="0"/>
              </a:rPr>
              <a:t>Point 4</a:t>
            </a:r>
          </a:p>
          <a:p>
            <a:pPr>
              <a:lnSpc>
                <a:spcPct val="100000"/>
              </a:lnSpc>
              <a:spcBef>
                <a:spcPts val="1400"/>
              </a:spcBef>
            </a:pPr>
            <a:r>
              <a:rPr lang="en-US" sz="2200">
                <a:solidFill>
                  <a:schemeClr val="accent3">
                    <a:lumMod val="25000"/>
                  </a:schemeClr>
                </a:solidFill>
                <a:latin typeface="Abadi" panose="020B0604020104020204" pitchFamily="34" charset="0"/>
              </a:rPr>
              <a:t>…</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Include any relevant assets like Python code snippets, SQL queries, charts, Notebook outputs, or data sets that you may have created during this project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106</TotalTime>
  <Words>1556</Words>
  <Application>Microsoft Office PowerPoint</Application>
  <PresentationFormat>Widescreen</PresentationFormat>
  <Paragraphs>241</Paragraphs>
  <Slides>47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Abadi</vt:lpstr>
      <vt:lpstr>Arial</vt:lpstr>
      <vt:lpstr>Calibri</vt:lpstr>
      <vt:lpstr>IBM Plex Mono SemiBold</vt:lpstr>
      <vt:lpstr>IBM Plex Sans Cond Light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BENJAMIN WUNSCH</cp:lastModifiedBy>
  <cp:revision>204</cp:revision>
  <dcterms:created xsi:type="dcterms:W3CDTF">2021-04-29T18:58:34Z</dcterms:created>
  <dcterms:modified xsi:type="dcterms:W3CDTF">2025-11-11T23:09:06Z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